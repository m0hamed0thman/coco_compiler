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9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96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WEEK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5080"/>
            <a:ext cx="1056616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JavaCC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2068098"/>
            <a:ext cx="10566166" cy="34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 your project is written in — and what it actually does for you.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10" y="2629449"/>
            <a:ext cx="10566166" cy="1181039"/>
          </a:xfrm>
          <a:prstGeom prst="roundRect">
            <a:avLst>
              <a:gd name="adj" fmla="val 8602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79449" y="2858049"/>
            <a:ext cx="10032705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Compiler Design · Faculty of Computers and Information, Menoufia University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9449" y="3248589"/>
            <a:ext cx="10032705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م. محمد شهاب</a:t>
            </a:r>
            <a:endParaRPr lang="en-US" sz="15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8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questions, and that is the whole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10" y="1879549"/>
            <a:ext cx="3403488" cy="1963400"/>
          </a:xfrm>
          <a:prstGeom prst="roundRect">
            <a:avLst>
              <a:gd name="adj" fmla="val 51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79449" y="2108149"/>
            <a:ext cx="287011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79449" y="2654229"/>
            <a:ext cx="2870119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it?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79449" y="3036540"/>
            <a:ext cx="2870119" cy="577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file that describes shapes. Not a program you write.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058" y="1879549"/>
            <a:ext cx="3403488" cy="1963400"/>
          </a:xfrm>
          <a:prstGeom prst="roundRect">
            <a:avLst>
              <a:gd name="adj" fmla="val 51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60788" y="2108149"/>
            <a:ext cx="287011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60788" y="2654229"/>
            <a:ext cx="2870119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will we use it?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0788" y="3036540"/>
            <a:ext cx="2870119" cy="577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pieces across the term. The last one is your project.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397" y="1879549"/>
            <a:ext cx="3403488" cy="1963400"/>
          </a:xfrm>
          <a:prstGeom prst="roundRect">
            <a:avLst>
              <a:gd name="adj" fmla="val 517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42127" y="2108149"/>
            <a:ext cx="287011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42127" y="2654229"/>
            <a:ext cx="2870119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do you do?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42127" y="3036540"/>
            <a:ext cx="2870119" cy="577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01 tonight — you write the first piece.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2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66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anything else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61379"/>
            <a:ext cx="10566166" cy="35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already have half of what you need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696029"/>
            <a:ext cx="5194158" cy="1790761"/>
          </a:xfrm>
          <a:prstGeom prst="roundRect">
            <a:avLst>
              <a:gd name="adj" fmla="val 567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66739" y="1899209"/>
            <a:ext cx="4686209" cy="27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66739" y="2256556"/>
            <a:ext cx="4686209" cy="29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Environment.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66739" y="2632649"/>
            <a:ext cx="4686209" cy="28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66739" y="3004170"/>
            <a:ext cx="4686209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programs. Almost every machine has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4727" y="1696029"/>
            <a:ext cx="5194158" cy="1790761"/>
          </a:xfrm>
          <a:prstGeom prst="roundRect">
            <a:avLst>
              <a:gd name="adj" fmla="val 5673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38748" y="1899209"/>
            <a:ext cx="4686209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196572"/>
            <a:ext cx="4686209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Kit.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38748" y="2509479"/>
            <a:ext cx="4686209" cy="23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 + javac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38748" y="2818638"/>
            <a:ext cx="4686209" cy="464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them, and compiles them. This is the one you need.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10" y="3668573"/>
            <a:ext cx="10566166" cy="903519"/>
          </a:xfrm>
          <a:prstGeom prst="roundRect">
            <a:avLst>
              <a:gd name="adj" fmla="val 1124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66739" y="3871752"/>
            <a:ext cx="10058126" cy="49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 writes Java code for you — so something has to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it. That is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javac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it only comes with the JDK.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10" y="4753874"/>
            <a:ext cx="10566166" cy="1087953"/>
          </a:xfrm>
          <a:prstGeom prst="roundRect">
            <a:avLst>
              <a:gd name="adj" fmla="val 933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66739" y="4918923"/>
            <a:ext cx="10058126" cy="23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adoptium.net → Temurin JDK 21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66739" y="5221590"/>
            <a:ext cx="10058126" cy="455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installer, Next until Finish. Then </a:t>
            </a:r>
            <a:r>
              <a:rPr lang="en-US" sz="13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 any terminal and open it again</a:t>
            </a: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otherwise your machine still cannot see it.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3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from last week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946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did this by hand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887139"/>
            <a:ext cx="10566166" cy="812810"/>
          </a:xfrm>
          <a:prstGeom prst="roundRect">
            <a:avLst>
              <a:gd name="adj" fmla="val 1249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92159" y="2077700"/>
            <a:ext cx="1000737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 = a + b * c;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2810" y="2928549"/>
            <a:ext cx="10566166" cy="654070"/>
          </a:xfrm>
          <a:prstGeom prst="roundRect">
            <a:avLst>
              <a:gd name="adj" fmla="val 1553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2159" y="3093598"/>
            <a:ext cx="1000737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 b MUL c ADD a STORE sum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10" y="3811219"/>
            <a:ext cx="10566166" cy="1123889"/>
          </a:xfrm>
          <a:prstGeom prst="roundRect">
            <a:avLst>
              <a:gd name="adj" fmla="val 903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79449" y="4039728"/>
            <a:ext cx="10032705" cy="66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any of that could happen, something had to look at the line and decide: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 is a name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 is an operator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is another name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You did that in your head without noticing.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4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week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404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has a name, and you already met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836390"/>
            <a:ext cx="1686977" cy="692109"/>
          </a:xfrm>
          <a:prstGeom prst="roundRect">
            <a:avLst>
              <a:gd name="adj" fmla="val 11005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76270" y="1976110"/>
            <a:ext cx="1559966" cy="41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lexical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88575" y="1836390"/>
            <a:ext cx="1686977" cy="692109"/>
          </a:xfrm>
          <a:prstGeom prst="roundRect">
            <a:avLst>
              <a:gd name="adj" fmla="val 1100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52126" y="1976110"/>
            <a:ext cx="1559966" cy="41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syntax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4431" y="1836390"/>
            <a:ext cx="1686977" cy="692109"/>
          </a:xfrm>
          <a:prstGeom prst="roundRect">
            <a:avLst>
              <a:gd name="adj" fmla="val 1100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427982" y="1976110"/>
            <a:ext cx="1559966" cy="41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0287" y="1836390"/>
            <a:ext cx="1686977" cy="692109"/>
          </a:xfrm>
          <a:prstGeom prst="roundRect">
            <a:avLst>
              <a:gd name="adj" fmla="val 1100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203838" y="1976110"/>
            <a:ext cx="1559966" cy="41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intermediate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16144" y="1836390"/>
            <a:ext cx="1686977" cy="692109"/>
          </a:xfrm>
          <a:prstGeom prst="roundRect">
            <a:avLst>
              <a:gd name="adj" fmla="val 1100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79603" y="1976110"/>
            <a:ext cx="1559966" cy="20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92000" y="1836390"/>
            <a:ext cx="1686977" cy="692109"/>
          </a:xfrm>
          <a:prstGeom prst="roundRect">
            <a:avLst>
              <a:gd name="adj" fmla="val 11005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755459" y="1976110"/>
            <a:ext cx="1559966" cy="41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10" y="2731679"/>
            <a:ext cx="10566166" cy="1123889"/>
          </a:xfrm>
          <a:prstGeom prst="roundRect">
            <a:avLst>
              <a:gd name="adj" fmla="val 903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79449" y="2960279"/>
            <a:ext cx="10032705" cy="66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box. Its only job is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cutting the line into pieces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giving each piece a name. Nothing else — it does not care what the line means.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810" y="4058839"/>
            <a:ext cx="10566166" cy="1079449"/>
          </a:xfrm>
          <a:prstGeom prst="roundRect">
            <a:avLst>
              <a:gd name="adj" fmla="val 941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79449" y="4287439"/>
            <a:ext cx="10032705" cy="62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compiler has this box. Writing it by hand is slow and easy to get wrong, so almost nobody does any more.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5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9469"/>
            <a:ext cx="10566166" cy="8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JavaCC is not a program you write. It is a file you fill 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2306300"/>
            <a:ext cx="5194158" cy="1810969"/>
          </a:xfrm>
          <a:prstGeom prst="roundRect">
            <a:avLst>
              <a:gd name="adj" fmla="val 56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79449" y="2534900"/>
            <a:ext cx="4660788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write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79449" y="2917119"/>
            <a:ext cx="4660788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file that says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each kind of piece looks like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9449" y="3618738"/>
            <a:ext cx="4660788" cy="26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Tokens.jj · 23 lines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727" y="2306300"/>
            <a:ext cx="5194158" cy="1810969"/>
          </a:xfrm>
          <a:prstGeom prst="roundRect">
            <a:avLst>
              <a:gd name="adj" fmla="val 561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51458" y="2534900"/>
            <a:ext cx="4660788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writes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51458" y="2917119"/>
            <a:ext cx="4660788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Java code that reads a file and finds them.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51458" y="3618738"/>
            <a:ext cx="4660788" cy="26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TokensTokenManager.java · ~800 lines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10" y="4345869"/>
            <a:ext cx="10566166" cy="790590"/>
          </a:xfrm>
          <a:prstGeom prst="roundRect">
            <a:avLst>
              <a:gd name="adj" fmla="val 12850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79449" y="4574469"/>
            <a:ext cx="10032705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describe. It implements.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the whole idea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and it is why the file is short.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6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62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actually in the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10630"/>
            <a:ext cx="10566166" cy="32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block per kind of token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566733"/>
          <a:ext cx="10566166" cy="914400"/>
        </p:xfrm>
        <a:graphic>
          <a:graphicData uri="http://schemas.openxmlformats.org/drawingml/2006/table">
            <a:tbl>
              <a:tblPr/>
              <a:tblGrid>
                <a:gridCol w="3592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category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examples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Lexer.jj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094B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options  +  PARSER_BEGIN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094B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boilerplate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094B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write once, forget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│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SKIP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whitespace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094B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thrown away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SKIP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comments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094B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thrown away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│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TOKEN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keywords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   if   while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TOKEN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identifiers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names you invent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TOKEN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numeric constants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42   3.14   6.02E+23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TOKEN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string constants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"hello"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├── TOKEN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special characters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;   ,   (   )   {   }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└── TOKEN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operators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=   +   ++   &lt;=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5113873"/>
            <a:ext cx="10566166" cy="727954"/>
          </a:xfrm>
          <a:prstGeom prst="roundRect">
            <a:avLst>
              <a:gd name="adj" fmla="val 13956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66739" y="5266304"/>
            <a:ext cx="10058126" cy="42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Those six are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exactly the sections the project's symbol table prints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blocks in your file and the sections of its output are the same list.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7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1 · reading one rule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946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parts, left to right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887139"/>
            <a:ext cx="10566166" cy="863559"/>
          </a:xfrm>
          <a:prstGeom prst="roundRect">
            <a:avLst>
              <a:gd name="adj" fmla="val 117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92159" y="2103029"/>
            <a:ext cx="1000737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NUM: (["0"-"9"])+ &gt;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979390"/>
          <a:ext cx="10566166" cy="914400"/>
        </p:xfrm>
        <a:graphic>
          <a:graphicData uri="http://schemas.openxmlformats.org/drawingml/2006/table">
            <a:tbl>
              <a:tblPr/>
              <a:tblGrid>
                <a:gridCol w="2747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says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NUM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name I chose. It could be anything.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["0"-"9"]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character, somewhere between 0 and 9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or more of what came before it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10" y="4808098"/>
            <a:ext cx="10566166" cy="790590"/>
          </a:xfrm>
          <a:prstGeom prst="roundRect">
            <a:avLst>
              <a:gd name="adj" fmla="val 12850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1079449" y="5036698"/>
            <a:ext cx="10032705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So: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digit, one or more times, is a thing called NUM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That is the whole line.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8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one more, so the pattern is clear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946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887139"/>
            <a:ext cx="10566166" cy="777240"/>
          </a:xfrm>
          <a:prstGeom prst="roundRect">
            <a:avLst>
              <a:gd name="adj" fmla="val 13071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92159" y="2103029"/>
            <a:ext cx="10007376" cy="34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ID: ["a"-"z","A"-"Z","_"] (["a"-"z","A"-"Z","0"-"9","_"])* &gt;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892979"/>
          <a:ext cx="10566166" cy="914400"/>
        </p:xfrm>
        <a:graphic>
          <a:graphicData uri="http://schemas.openxmlformats.org/drawingml/2006/table">
            <a:tbl>
              <a:tblPr/>
              <a:tblGrid>
                <a:gridCol w="4226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says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["a"-"z","A"-"Z","_"]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character: a letter, or underscore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(...)*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then any number of letters, digits or underscores — including none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10" y="4281678"/>
            <a:ext cx="10566166" cy="1123889"/>
          </a:xfrm>
          <a:prstGeom prst="roundRect">
            <a:avLst>
              <a:gd name="adj" fmla="val 903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79449" y="4510278"/>
            <a:ext cx="10032705" cy="66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it out: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starts with a letter, then anything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And that is exactly why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2x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not a valid name in any language you have used.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9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whole notation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53698"/>
            <a:ext cx="10566166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 symbols, and you can write any rule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682405"/>
          <a:ext cx="10566166" cy="914400"/>
        </p:xfrm>
        <a:graphic>
          <a:graphicData uri="http://schemas.openxmlformats.org/drawingml/2006/table">
            <a:tbl>
              <a:tblPr/>
              <a:tblGrid>
                <a:gridCol w="253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 write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 means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you see 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"if"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exactly this text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&lt; IF: "if" &gt;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["0"-"9"]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character from a range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 digit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["+","-"]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character from a list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 sign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~["x"]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character except 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inside strings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~[]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character at all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inside block comments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  B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A, then 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"a" "b"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 | B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or B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"&gt;" | "&lt;"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( A )*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zero or more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any number, maybe none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( A )+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or more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at least one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D4AF5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( A )?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there, or not there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optional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5036698"/>
            <a:ext cx="10566166" cy="805129"/>
          </a:xfrm>
          <a:prstGeom prst="roundRect">
            <a:avLst>
              <a:gd name="adj" fmla="val 12618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66739" y="5189129"/>
            <a:ext cx="10058126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~["x"]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includes the newline. A comment rule written with it and nothing excluded will swallow the rest of the file — which is why the line-comment rule says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~["\n","\r"]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10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you actually write one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1430"/>
            <a:ext cx="10566166" cy="81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the easy case. Let it break. Add the next one.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2202150"/>
          <a:ext cx="10566166" cy="914400"/>
        </p:xfrm>
        <a:graphic>
          <a:graphicData uri="http://schemas.openxmlformats.org/drawingml/2006/table">
            <a:tbl>
              <a:tblPr/>
              <a:tblGrid>
                <a:gridCol w="5283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you write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passes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it stops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(["0"-"9"])+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42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094B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stops at the . in 3.14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(["0"-"9"])+ ( "." (["0"-"9"])+ )?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42   3.14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094B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stops at the E in 2E10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(["0"-"9"])+ ( "." (["0"-"9"])+ )? ( "E" ("+"|"-")? (["0"-"9"])+ )?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42  3.14  2E10  6.02E+23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094B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four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3726089"/>
            <a:ext cx="10566166" cy="1631930"/>
          </a:xfrm>
          <a:prstGeom prst="roundRect">
            <a:avLst>
              <a:gd name="adj" fmla="val 6225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66739" y="3903848"/>
            <a:ext cx="10058126" cy="604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two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parts are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</a:t>
            </a: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number may have a fraction, or an exponent, or both, or neither.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66739" y="4597329"/>
            <a:ext cx="1005812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 exponent </a:t>
            </a:r>
            <a:r>
              <a:rPr lang="en-US" sz="1400" i="1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inside</a:t>
            </a:r>
            <a:r>
              <a:rPr lang="en-US" sz="14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fraction brackets and </a:t>
            </a:r>
            <a:r>
              <a:rPr lang="en-US" sz="14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2E10</a:t>
            </a:r>
            <a:r>
              <a:rPr lang="en-US" sz="14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fails: it has no dot, so the whole group is skipped.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11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now watch it 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1404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commands, and that is the whole tool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836390"/>
          <a:ext cx="10566166" cy="914400"/>
        </p:xfrm>
        <a:graphic>
          <a:graphicData uri="http://schemas.openxmlformats.org/drawingml/2006/table">
            <a:tbl>
              <a:tblPr/>
              <a:tblGrid>
                <a:gridCol w="655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you type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java -cp javacc.jar javacc -OUTPUT_DIRECTORY=build Lexer.jj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reads your rules, writes 7 Java files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javac -d build build\*.java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compiles them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8FA8C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java -cp build Lexer test.txt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runs them on whatever file you name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3373039"/>
            <a:ext cx="10566166" cy="1376629"/>
          </a:xfrm>
          <a:prstGeom prst="roundRect">
            <a:avLst>
              <a:gd name="adj" fmla="val 7380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66739" y="3563508"/>
            <a:ext cx="10058126" cy="62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file name is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written inside the code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you pass it on the command line. Same program, any input.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66739" y="4278478"/>
            <a:ext cx="10058126" cy="2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installed. javacc.jar is one file sitting next to the others.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12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1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it yourself first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83234"/>
            <a:ext cx="10566166" cy="36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many pieces is this number?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745590"/>
            <a:ext cx="10566166" cy="749808"/>
          </a:xfrm>
          <a:prstGeom prst="roundRect">
            <a:avLst>
              <a:gd name="adj" fmla="val 1354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17580" y="1961479"/>
            <a:ext cx="9956536" cy="31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float avogadro = 6.02E+23;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2810" y="2693822"/>
            <a:ext cx="10566166" cy="1973732"/>
          </a:xfrm>
          <a:prstGeom prst="roundRect">
            <a:avLst>
              <a:gd name="adj" fmla="val 5147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17580" y="2871673"/>
            <a:ext cx="9956536" cy="25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float float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7580" y="3212379"/>
            <a:ext cx="9956536" cy="25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&lt;ID&gt; avogadro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7580" y="3553176"/>
            <a:ext cx="9956536" cy="25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=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7580" y="3893972"/>
            <a:ext cx="9956536" cy="25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&lt;NUM&gt; 6.02E+23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7580" y="4234678"/>
            <a:ext cx="9956536" cy="25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10" y="4866071"/>
            <a:ext cx="10566166" cy="975848"/>
          </a:xfrm>
          <a:prstGeom prst="roundRect">
            <a:avLst>
              <a:gd name="adj" fmla="val 10410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79449" y="5094580"/>
            <a:ext cx="10032705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piece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Eight characters, with a dot and a letter and a plus sign in the middle — and all of it is one thing, because the description said so.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13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it yourself first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946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this the keyword while, followed by 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887139"/>
            <a:ext cx="10566166" cy="863559"/>
          </a:xfrm>
          <a:prstGeom prst="roundRect">
            <a:avLst>
              <a:gd name="adj" fmla="val 11764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17580" y="2103029"/>
            <a:ext cx="995653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whiles = 3;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2810" y="2979390"/>
            <a:ext cx="5194158" cy="1066099"/>
          </a:xfrm>
          <a:prstGeom prst="roundRect">
            <a:avLst>
              <a:gd name="adj" fmla="val 952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66739" y="3144439"/>
            <a:ext cx="4686209" cy="34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&lt;ID&gt; whiles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66739" y="3591489"/>
            <a:ext cx="4686209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4727" y="2979390"/>
            <a:ext cx="5194158" cy="1066099"/>
          </a:xfrm>
          <a:prstGeom prst="roundRect">
            <a:avLst>
              <a:gd name="adj" fmla="val 952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38748" y="3144439"/>
            <a:ext cx="4686209" cy="34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8094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+ 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3591489"/>
            <a:ext cx="4686209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3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pieces — wrong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10" y="4274088"/>
            <a:ext cx="10566166" cy="1123889"/>
          </a:xfrm>
          <a:prstGeom prst="roundRect">
            <a:avLst>
              <a:gd name="adj" fmla="val 903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79449" y="4502688"/>
            <a:ext cx="10032705" cy="66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one name. And the tool knows because of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order of the lines in the file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the keywords are written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above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rule for names.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14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it yourself first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02802"/>
            <a:ext cx="10566166" cy="38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is this one piece, or two?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794693"/>
            <a:ext cx="10566166" cy="789219"/>
          </a:xfrm>
          <a:prstGeom prst="roundRect">
            <a:avLst>
              <a:gd name="adj" fmla="val 1287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17580" y="2010583"/>
            <a:ext cx="9956536" cy="35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000" dirty="0">
                <a:solidFill>
                  <a:srgbClr val="F7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(whiles &lt;= 10)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2810" y="2792852"/>
            <a:ext cx="10566166" cy="617494"/>
          </a:xfrm>
          <a:prstGeom prst="roundRect">
            <a:avLst>
              <a:gd name="adj" fmla="val 16452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17580" y="2957901"/>
            <a:ext cx="9956536" cy="28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&lt;= &lt;=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10" y="3619195"/>
            <a:ext cx="10566166" cy="1027146"/>
          </a:xfrm>
          <a:prstGeom prst="roundRect">
            <a:avLst>
              <a:gd name="adj" fmla="val 9890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79449" y="3847795"/>
            <a:ext cx="10032705" cy="56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One. The tool always takes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longest thing it can match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and for this one the order of the lines does not matter at all.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10" y="4855281"/>
            <a:ext cx="10566166" cy="986546"/>
          </a:xfrm>
          <a:prstGeom prst="roundRect">
            <a:avLst>
              <a:gd name="adj" fmla="val 10298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79449" y="5083881"/>
            <a:ext cx="10032705" cy="529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decides the keywords. Length decides the operators. </a:t>
            </a:r>
            <a:r>
              <a:rPr lang="en-US" sz="14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different rules, and the exam asks about both.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15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239469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we will use it — six pieces, one project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887139"/>
          <a:ext cx="10566166" cy="914400"/>
        </p:xfrm>
        <a:graphic>
          <a:graphicData uri="http://schemas.openxmlformats.org/drawingml/2006/table">
            <a:tbl>
              <a:tblPr/>
              <a:tblGrid>
                <a:gridCol w="253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4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piece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you write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D4AF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 · the lexer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SKIP and TOKEN — the shapes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tonight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02 · symbol table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collecting every name and where it appeared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03 · the grammar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precedence, written as rules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after the sheets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04 · the parser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structure of a statement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05 · atoms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intermediate code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06 · running 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actually executing the program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10" y="4636008"/>
            <a:ext cx="10566166" cy="1123889"/>
          </a:xfrm>
          <a:prstGeom prst="roundRect">
            <a:avLst>
              <a:gd name="adj" fmla="val 9039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79449" y="4864608"/>
            <a:ext cx="10032705" cy="66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These are not exercises I invented. They are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department project, cut into six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By the end you will have written all 550 lines of it.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16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39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thing before the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10" y="1432499"/>
            <a:ext cx="10566166" cy="952439"/>
          </a:xfrm>
          <a:prstGeom prst="roundRect">
            <a:avLst>
              <a:gd name="adj" fmla="val 10666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17580" y="1686519"/>
            <a:ext cx="9956536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 writes the code. </a:t>
            </a:r>
            <a:r>
              <a:rPr lang="en-US" sz="20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asks you.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10" y="2613630"/>
            <a:ext cx="5194158" cy="1406530"/>
          </a:xfrm>
          <a:prstGeom prst="roundRect">
            <a:avLst>
              <a:gd name="adj" fmla="val 722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79449" y="2842230"/>
            <a:ext cx="466078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saves you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79449" y="3191439"/>
            <a:ext cx="4660788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typing, and the mistakes that come with typing.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4727" y="2613630"/>
            <a:ext cx="5194158" cy="1406530"/>
          </a:xfrm>
          <a:prstGeom prst="roundRect">
            <a:avLst>
              <a:gd name="adj" fmla="val 722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51458" y="2842230"/>
            <a:ext cx="466078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does not save you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51458" y="3191439"/>
            <a:ext cx="4660788" cy="60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understanding what it built, or why the order mattered.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17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177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4A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196127"/>
            <a:ext cx="10566166" cy="376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 01 — you write the first piece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810" y="1777959"/>
            <a:ext cx="10566166" cy="1302014"/>
          </a:xfrm>
          <a:prstGeom prst="roundRect">
            <a:avLst>
              <a:gd name="adj" fmla="val 7803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92159" y="1968429"/>
            <a:ext cx="10007376" cy="57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get the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block of the department project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with the answers removed. What you write is what runs in 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2159" y="2630729"/>
            <a:ext cx="10007376" cy="258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questions · 30 marks · the sixth has no marks.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3285256"/>
          <a:ext cx="10566166" cy="914400"/>
        </p:xfrm>
        <a:graphic>
          <a:graphicData uri="http://schemas.openxmlformats.org/drawingml/2006/table">
            <a:tbl>
              <a:tblPr/>
              <a:tblGrid>
                <a:gridCol w="390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3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SKIP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NUMBER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keywords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STRING + a bug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7F5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names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 operators + exponent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AAB7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8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2810" y="4832238"/>
            <a:ext cx="10566166" cy="1009680"/>
          </a:xfrm>
          <a:prstGeom prst="roundRect">
            <a:avLst>
              <a:gd name="adj" fmla="val 10062"/>
            </a:avLst>
          </a:prstGeom>
          <a:solidFill>
            <a:srgbClr val="1D3153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79449" y="5060838"/>
            <a:ext cx="10032705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thing you will see is an error. </a:t>
            </a:r>
            <a:r>
              <a:rPr lang="en-US" sz="1500" dirty="0">
                <a:solidFill>
                  <a:srgbClr val="D4AF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question 1, not a fault</a:t>
            </a:r>
            <a:r>
              <a:rPr lang="en-US" sz="15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read where it stopped and you will know what is missing.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18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things to take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10" y="1460480"/>
            <a:ext cx="5206868" cy="1914479"/>
          </a:xfrm>
          <a:prstGeom prst="roundRect">
            <a:avLst>
              <a:gd name="adj" fmla="val 530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1410" y="1689080"/>
            <a:ext cx="2305020" cy="145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86059" y="1689080"/>
            <a:ext cx="2305020" cy="145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Lexical analysis is the first box: it cuts the line into pieces and names them. Nothing more.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17" y="1460480"/>
            <a:ext cx="5206868" cy="1914479"/>
          </a:xfrm>
          <a:prstGeom prst="roundRect">
            <a:avLst>
              <a:gd name="adj" fmla="val 5306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617" y="1689080"/>
            <a:ext cx="23050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845357" y="1689080"/>
            <a:ext cx="23050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write a description of each shape. The tool writes the code that finds them.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10" y="3527298"/>
            <a:ext cx="5206868" cy="1331549"/>
          </a:xfrm>
          <a:prstGeom prst="roundRect">
            <a:avLst>
              <a:gd name="adj" fmla="val 762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41410" y="3755898"/>
            <a:ext cx="2305020" cy="87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86059" y="3755898"/>
            <a:ext cx="2305020" cy="87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decides the keywords. Length decides the operators.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17" y="3527298"/>
            <a:ext cx="5206868" cy="1331549"/>
          </a:xfrm>
          <a:prstGeom prst="roundRect">
            <a:avLst>
              <a:gd name="adj" fmla="val 7629"/>
            </a:avLst>
          </a:prstGeom>
          <a:solidFill>
            <a:srgbClr val="1D3153"/>
          </a:solidFill>
          <a:ln w="12700">
            <a:solidFill>
              <a:srgbClr val="314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617" y="3755898"/>
            <a:ext cx="498439" cy="29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D4AF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38777" y="3755898"/>
            <a:ext cx="4111508" cy="29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 saves typing, not understanding.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6253307"/>
            <a:ext cx="10566166" cy="19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 · JavaCC · 19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17"/>
          </a:xfrm>
          <a:prstGeom prst="rect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12810" y="812810"/>
            <a:ext cx="10566166" cy="53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1597640"/>
            <a:ext cx="10566166" cy="34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01 is due before next week. Bring question 5 — we open with your answers.</a:t>
            </a:r>
            <a:endParaRPr lang="en-US" sz="1600" dirty="0"/>
          </a:p>
        </p:txBody>
      </p:sp>
      <p:pic>
        <p:nvPicPr>
          <p:cNvPr id="5" name="Image 0" descr="D:\______Work\Menofia University\1st Term 2026-2027\_tools\telegram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59" y="2197029"/>
            <a:ext cx="1460480" cy="146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2810" y="3746388"/>
            <a:ext cx="1562070" cy="18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Telegram group</a:t>
            </a:r>
            <a:endParaRPr lang="en-US" sz="1200" dirty="0"/>
          </a:p>
        </p:txBody>
      </p:sp>
      <p:pic>
        <p:nvPicPr>
          <p:cNvPr id="7" name="Image 1" descr="D:\______Work\Menofia University\1st Term 2026-2027\_tools\playlist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589" y="2197029"/>
            <a:ext cx="1460480" cy="1460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28809" y="3746388"/>
            <a:ext cx="1885859" cy="18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8094B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Recorded sessions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768687" y="2197029"/>
            <a:ext cx="661019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7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م. محمد شهاب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768687" y="2520909"/>
            <a:ext cx="6610198" cy="56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Compiler Design · Week 3</a:t>
            </a:r>
            <a:endParaRPr lang="en-US" sz="13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AAB7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Faculty of Computers and Information, Menoufia University</a:t>
            </a:r>
            <a:endParaRPr lang="en-US" sz="13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1813</Words>
  <Application>Microsoft Office PowerPoint</Application>
  <PresentationFormat>Widescreen</PresentationFormat>
  <Paragraphs>302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IBM Plex Sans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JavaCC</dc:title>
  <dc:subject>PptxGenJS Presentation</dc:subject>
  <dc:creator>PptxGenJS</dc:creator>
  <cp:lastModifiedBy>Mohamed Samy</cp:lastModifiedBy>
  <cp:revision>1</cp:revision>
  <dcterms:created xsi:type="dcterms:W3CDTF">2026-10-22T06:00:38Z</dcterms:created>
  <dcterms:modified xsi:type="dcterms:W3CDTF">2026-10-22T07:16:08Z</dcterms:modified>
</cp:coreProperties>
</file>